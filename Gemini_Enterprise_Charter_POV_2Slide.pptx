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453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990B2F-040F-41CF-8805-03A13A46E2FC}" v="8" dt="2026-05-15T17:17:35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raj Jha" userId="c1aa26d6-827e-4611-ac43-c9f9d67d4708" providerId="ADAL" clId="{4FE509E6-0845-454A-8EE9-A9E7AA43516E}"/>
    <pc:docChg chg="undo custSel modSld">
      <pc:chgData name="Neeraj Jha" userId="c1aa26d6-827e-4611-ac43-c9f9d67d4708" providerId="ADAL" clId="{4FE509E6-0845-454A-8EE9-A9E7AA43516E}" dt="2026-05-15T17:17:47.926" v="1209" actId="14100"/>
      <pc:docMkLst>
        <pc:docMk/>
      </pc:docMkLst>
      <pc:sldChg chg="modSp mod">
        <pc:chgData name="Neeraj Jha" userId="c1aa26d6-827e-4611-ac43-c9f9d67d4708" providerId="ADAL" clId="{4FE509E6-0845-454A-8EE9-A9E7AA43516E}" dt="2026-05-15T17:17:47.926" v="1209" actId="14100"/>
        <pc:sldMkLst>
          <pc:docMk/>
          <pc:sldMk cId="3644154813" sldId="261"/>
        </pc:sldMkLst>
        <pc:spChg chg="mod">
          <ac:chgData name="Neeraj Jha" userId="c1aa26d6-827e-4611-ac43-c9f9d67d4708" providerId="ADAL" clId="{4FE509E6-0845-454A-8EE9-A9E7AA43516E}" dt="2026-05-03T16:37:04.669" v="834" actId="108"/>
          <ac:spMkLst>
            <pc:docMk/>
            <pc:sldMk cId="3644154813" sldId="261"/>
            <ac:spMk id="35" creationId="{323AF932-CA3E-B44D-9664-69E667DD2417}"/>
          </ac:spMkLst>
        </pc:spChg>
        <pc:spChg chg="mod">
          <ac:chgData name="Neeraj Jha" userId="c1aa26d6-827e-4611-ac43-c9f9d67d4708" providerId="ADAL" clId="{4FE509E6-0845-454A-8EE9-A9E7AA43516E}" dt="2026-05-15T16:53:00.888" v="1189" actId="108"/>
          <ac:spMkLst>
            <pc:docMk/>
            <pc:sldMk cId="3644154813" sldId="261"/>
            <ac:spMk id="36" creationId="{32E51961-1CF8-AA20-E328-E1B0071C545C}"/>
          </ac:spMkLst>
        </pc:spChg>
        <pc:graphicFrameChg chg="mod modGraphic">
          <ac:chgData name="Neeraj Jha" userId="c1aa26d6-827e-4611-ac43-c9f9d67d4708" providerId="ADAL" clId="{4FE509E6-0845-454A-8EE9-A9E7AA43516E}" dt="2026-05-15T17:17:47.926" v="1209" actId="14100"/>
          <ac:graphicFrameMkLst>
            <pc:docMk/>
            <pc:sldMk cId="3644154813" sldId="261"/>
            <ac:graphicFrameMk id="9" creationId="{EC2DEE72-E3FF-03DF-250E-8AC6C53BE045}"/>
          </ac:graphicFrameMkLst>
        </pc:graphicFrameChg>
      </pc:sldChg>
      <pc:sldChg chg="modSp mod">
        <pc:chgData name="Neeraj Jha" userId="c1aa26d6-827e-4611-ac43-c9f9d67d4708" providerId="ADAL" clId="{4FE509E6-0845-454A-8EE9-A9E7AA43516E}" dt="2026-05-15T16:50:01.495" v="1166" actId="20577"/>
        <pc:sldMkLst>
          <pc:docMk/>
          <pc:sldMk cId="3443256133" sldId="415"/>
        </pc:sldMkLst>
        <pc:spChg chg="mod">
          <ac:chgData name="Neeraj Jha" userId="c1aa26d6-827e-4611-ac43-c9f9d67d4708" providerId="ADAL" clId="{4FE509E6-0845-454A-8EE9-A9E7AA43516E}" dt="2026-05-15T16:50:01.495" v="1166" actId="20577"/>
          <ac:spMkLst>
            <pc:docMk/>
            <pc:sldMk cId="3443256133" sldId="415"/>
            <ac:spMk id="4" creationId="{EADD83B8-232F-082F-9D85-71B456089775}"/>
          </ac:spMkLst>
        </pc:spChg>
      </pc:sldChg>
      <pc:sldChg chg="modSp mod">
        <pc:chgData name="Neeraj Jha" userId="c1aa26d6-827e-4611-ac43-c9f9d67d4708" providerId="ADAL" clId="{4FE509E6-0845-454A-8EE9-A9E7AA43516E}" dt="2026-05-15T16:52:41.819" v="1188"/>
        <pc:sldMkLst>
          <pc:docMk/>
          <pc:sldMk cId="4042593901" sldId="453"/>
        </pc:sldMkLst>
        <pc:spChg chg="mod">
          <ac:chgData name="Neeraj Jha" userId="c1aa26d6-827e-4611-ac43-c9f9d67d4708" providerId="ADAL" clId="{4FE509E6-0845-454A-8EE9-A9E7AA43516E}" dt="2026-05-03T16:36:37.241" v="832" actId="108"/>
          <ac:spMkLst>
            <pc:docMk/>
            <pc:sldMk cId="4042593901" sldId="453"/>
            <ac:spMk id="3" creationId="{7F27E5E3-552D-2DD8-A0E3-037EB043DDB0}"/>
          </ac:spMkLst>
        </pc:spChg>
        <pc:spChg chg="mod">
          <ac:chgData name="Neeraj Jha" userId="c1aa26d6-827e-4611-ac43-c9f9d67d4708" providerId="ADAL" clId="{4FE509E6-0845-454A-8EE9-A9E7AA43516E}" dt="2026-05-03T17:02:43.175" v="946" actId="20577"/>
          <ac:spMkLst>
            <pc:docMk/>
            <pc:sldMk cId="4042593901" sldId="453"/>
            <ac:spMk id="6" creationId="{607D7471-4C75-9C41-B91E-843ECB410BC4}"/>
          </ac:spMkLst>
        </pc:spChg>
        <pc:spChg chg="mod">
          <ac:chgData name="Neeraj Jha" userId="c1aa26d6-827e-4611-ac43-c9f9d67d4708" providerId="ADAL" clId="{4FE509E6-0845-454A-8EE9-A9E7AA43516E}" dt="2026-05-15T16:52:41.819" v="1188"/>
          <ac:spMkLst>
            <pc:docMk/>
            <pc:sldMk cId="4042593901" sldId="453"/>
            <ac:spMk id="7" creationId="{0472C1DF-A428-F0A9-D634-22002DD03CF7}"/>
          </ac:spMkLst>
        </pc:spChg>
        <pc:spChg chg="mod">
          <ac:chgData name="Neeraj Jha" userId="c1aa26d6-827e-4611-ac43-c9f9d67d4708" providerId="ADAL" clId="{4FE509E6-0845-454A-8EE9-A9E7AA43516E}" dt="2026-05-15T16:50:22.964" v="1168" actId="108"/>
          <ac:spMkLst>
            <pc:docMk/>
            <pc:sldMk cId="4042593901" sldId="453"/>
            <ac:spMk id="16" creationId="{6D2D5F9B-12EF-AE24-3FFB-10429DC92497}"/>
          </ac:spMkLst>
        </pc:spChg>
        <pc:spChg chg="mod">
          <ac:chgData name="Neeraj Jha" userId="c1aa26d6-827e-4611-ac43-c9f9d67d4708" providerId="ADAL" clId="{4FE509E6-0845-454A-8EE9-A9E7AA43516E}" dt="2026-05-04T07:51:11.599" v="1026" actId="20577"/>
          <ac:spMkLst>
            <pc:docMk/>
            <pc:sldMk cId="4042593901" sldId="453"/>
            <ac:spMk id="19" creationId="{C494FE2C-E2BA-4E8B-9011-9864C3B6FF90}"/>
          </ac:spMkLst>
        </pc:spChg>
        <pc:spChg chg="mod">
          <ac:chgData name="Neeraj Jha" userId="c1aa26d6-827e-4611-ac43-c9f9d67d4708" providerId="ADAL" clId="{4FE509E6-0845-454A-8EE9-A9E7AA43516E}" dt="2026-05-15T16:50:11.434" v="1167" actId="108"/>
          <ac:spMkLst>
            <pc:docMk/>
            <pc:sldMk cId="4042593901" sldId="453"/>
            <ac:spMk id="24" creationId="{37E9F498-9BC9-7D4E-6D8E-DE054011803E}"/>
          </ac:spMkLst>
        </pc:spChg>
        <pc:spChg chg="mod">
          <ac:chgData name="Neeraj Jha" userId="c1aa26d6-827e-4611-ac43-c9f9d67d4708" providerId="ADAL" clId="{4FE509E6-0845-454A-8EE9-A9E7AA43516E}" dt="2026-05-04T07:43:04.730" v="962" actId="20577"/>
          <ac:spMkLst>
            <pc:docMk/>
            <pc:sldMk cId="4042593901" sldId="453"/>
            <ac:spMk id="30" creationId="{42BE6E7E-6436-BFB3-E026-1E657E5F29C6}"/>
          </ac:spMkLst>
        </pc:spChg>
        <pc:spChg chg="mod">
          <ac:chgData name="Neeraj Jha" userId="c1aa26d6-827e-4611-ac43-c9f9d67d4708" providerId="ADAL" clId="{4FE509E6-0845-454A-8EE9-A9E7AA43516E}" dt="2026-05-04T07:50:30.537" v="983" actId="20577"/>
          <ac:spMkLst>
            <pc:docMk/>
            <pc:sldMk cId="4042593901" sldId="453"/>
            <ac:spMk id="31" creationId="{69AFCC83-86BE-1EF9-FAD0-55B6C1FE3622}"/>
          </ac:spMkLst>
        </pc:spChg>
        <pc:spChg chg="mod">
          <ac:chgData name="Neeraj Jha" userId="c1aa26d6-827e-4611-ac43-c9f9d67d4708" providerId="ADAL" clId="{4FE509E6-0845-454A-8EE9-A9E7AA43516E}" dt="2026-05-04T07:50:11.173" v="979" actId="20577"/>
          <ac:spMkLst>
            <pc:docMk/>
            <pc:sldMk cId="4042593901" sldId="453"/>
            <ac:spMk id="41" creationId="{372166E3-3D48-6E1B-D567-81C86165D713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7A40C-1356-48B7-9954-A9BBA2E4FE7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E0CD2-4000-432B-8E5F-1FD804703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81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352D-1CA4-23DD-53EC-1F3A53D1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22ECE-4BA3-B654-B87C-8DE8882F7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B0121-DAA6-EAB2-B2CB-67C49A404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61F34-9EFB-F123-4908-EC2F99B29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65705-53FF-43E0-8149-C1640ADAE4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913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E0CD2-4000-432B-8E5F-1FD804703C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696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5D19-5BC6-D432-C81F-0F1A706C8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77469-A59F-7E28-F67B-C6D8B3507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14DFD-2D4E-C8EE-8A28-F28031C9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A2454-8A13-8AFC-2478-4BEBC404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4323B-7A0E-05A0-E926-46F594BB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5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0150-236D-751B-7571-B3AA70F7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A2122-BAF3-2902-8FEF-BEF55D667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815A5-A876-DCF5-CC9F-EF51C61A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6CEC0-78A4-74D9-8660-26E8C1C3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56D95-85A7-8A33-6162-2EFC1BA1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9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86180-8461-2696-AE9D-E81168BDC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40163-3158-6D16-6621-E079F8BAA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619C2-9B4D-EB70-A41E-6F297890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796FE-EC5C-AC1A-C265-D3101D8A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FB64C-2327-9862-C3ED-2086349E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6CEC-44EB-5010-37E6-C294ED9B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F7110-CC0E-7FC7-C4B2-5B7C7B2CB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35876-FC6D-3A91-DEE6-B4D5C7A35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395F5-A5B3-267A-29F5-75A50395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1125A-FCDD-EA89-A228-7539C500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E76C0-5535-9B2D-4D93-148C6ED5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0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18E4-61CD-9BE8-CD27-6F13F587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44E0-E836-9C72-1690-E1374A074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DE9BB-F9A8-6EDC-B36C-59292FF84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1C63B-168F-D4CE-9DA9-59031282A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747E0-18E4-CF8D-29CC-3538DB11F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28F2B3-AF7C-6849-82C7-721BB963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420E77-F6E5-5FFA-571C-D8684DBD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38C83-3D99-CEB4-9FB8-8CC51EA6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8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CB94-10E1-A575-C67B-56A46C72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0B00B-4FAA-E2BE-3D11-C40B458E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E14CF-59E7-ADE5-8D14-F74F37E0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CDD67-6911-C514-B120-4AEF8D3B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5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4C6724-A1D4-EE88-5312-5B8B0380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EA248-1E59-4E90-F117-562D080B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56CAA-4612-819C-E83E-8B28F79D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2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FF33-0E1B-D64F-E8EC-2CEC293C1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237D4-A0B7-9CCC-BE38-4ECC161F0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C3FF8-A196-F368-F34E-153B718AD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08A33-5994-1A81-AAB8-2BAE5A11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70BE7-B766-12FE-CB6E-3B01A034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800A1-E560-3B69-B19C-2578E537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8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46B9-95A6-1F24-881B-6CCD0858A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FE370-5DD5-3073-E7C6-2732E76B3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BF9A7-E857-9B17-428C-719854A23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D6BAD-4895-4232-BD58-20A9ED4D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9AB6-C28E-769F-C45D-DCC02756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B3902-B5A1-F36B-FA99-7416585A8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14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F08D-4929-5531-1DAA-2D228AF5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66659-3F89-CBD8-0993-80A489C43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F91D5-67E9-C931-9BF6-A0275C97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11319-7DBD-15D1-F174-7F80ECE28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43CE1-5BE9-D8A9-2C0C-D323D305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9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16C60-C3F1-A2E5-3AB6-97E8423AC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0CFBC-40B2-AD68-2A42-2460EC866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CDCB3-E7B8-5744-1CA1-E5FA699E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597C2-4102-923C-93E7-663C5FCC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4C436-490E-BA96-A992-FEE6A099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20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2" y="543496"/>
            <a:ext cx="11277600" cy="67256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215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8" y="6223001"/>
            <a:ext cx="990600" cy="63499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FontTx/>
              <a:buNone/>
              <a:tabLst/>
              <a:defRPr sz="1199">
                <a:solidFill>
                  <a:schemeClr val="tx1"/>
                </a:solidFill>
                <a:latin typeface="+mn-lt"/>
              </a:defRPr>
            </a:lvl1pPr>
            <a:lvl2pPr marL="136147" indent="-136147">
              <a:lnSpc>
                <a:spcPct val="100000"/>
              </a:lnSpc>
              <a:spcBef>
                <a:spcPts val="0"/>
              </a:spcBef>
              <a:spcAft>
                <a:spcPts val="36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1199">
                <a:solidFill>
                  <a:schemeClr val="tx1"/>
                </a:solidFill>
                <a:latin typeface="+mj-lt"/>
              </a:defRPr>
            </a:lvl2pPr>
            <a:lvl3pPr marL="277054" indent="-140909">
              <a:lnSpc>
                <a:spcPct val="100000"/>
              </a:lnSpc>
              <a:spcBef>
                <a:spcPts val="0"/>
              </a:spcBef>
              <a:spcAft>
                <a:spcPts val="360"/>
              </a:spcAft>
              <a:tabLst/>
              <a:defRPr sz="960">
                <a:solidFill>
                  <a:schemeClr val="tx1"/>
                </a:solidFill>
                <a:latin typeface="+mj-lt"/>
              </a:defRPr>
            </a:lvl3pPr>
            <a:lvl4pPr marL="412250" indent="-135195">
              <a:lnSpc>
                <a:spcPct val="100000"/>
              </a:lnSpc>
              <a:spcBef>
                <a:spcPts val="0"/>
              </a:spcBef>
              <a:spcAft>
                <a:spcPts val="360"/>
              </a:spcAft>
              <a:tabLst/>
              <a:defRPr sz="840">
                <a:solidFill>
                  <a:schemeClr val="tx1"/>
                </a:solidFill>
                <a:latin typeface="+mj-lt"/>
              </a:defRPr>
            </a:lvl4pPr>
            <a:lvl5pPr marL="514123" indent="-101873">
              <a:lnSpc>
                <a:spcPct val="100000"/>
              </a:lnSpc>
              <a:spcBef>
                <a:spcPts val="0"/>
              </a:spcBef>
              <a:spcAft>
                <a:spcPts val="360"/>
              </a:spcAft>
              <a:tabLst/>
              <a:defRPr sz="72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1370377" y="6691801"/>
            <a:ext cx="579421" cy="16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480" smtClean="0">
                <a:solidFill>
                  <a:schemeClr val="tx2"/>
                </a:solidFill>
              </a:rPr>
              <a:t>‹#›</a:t>
            </a:fld>
            <a:endParaRPr lang="en-US" sz="48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156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35026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FD8F8-E03A-8D7C-8940-CB9FF98CC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859C9-1BB7-A143-A4C7-462F2B888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C38E9-AAAA-64AF-355D-99410CF5A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A6C4E-5C94-4E93-B2F9-827A404561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904C3-6E52-BCB0-95E4-501DCF3D5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53B37-39EB-4E02-1CFC-AB3CE9FB3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504AE-AE49-4D04-8A0B-894F070B3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4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28E81-47F2-AA7A-D8AE-3B697DA42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5ABE-5FBF-552A-6386-B26E579D5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0"/>
            <a:ext cx="10515600" cy="53652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Clr>
                <a:schemeClr val="tx1"/>
              </a:buClr>
              <a:buSzPts val="1100"/>
            </a:pPr>
            <a:r>
              <a:rPr lang="en-US" sz="2000" dirty="0">
                <a:solidFill>
                  <a:srgbClr val="FB4E0B"/>
                </a:solidFill>
                <a:latin typeface="+mn-lt"/>
                <a:ea typeface="+mn-ea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9B925-8356-EF6D-C1DA-A08A170E3F64}"/>
              </a:ext>
            </a:extLst>
          </p:cNvPr>
          <p:cNvSpPr txBox="1"/>
          <p:nvPr/>
        </p:nvSpPr>
        <p:spPr>
          <a:xfrm>
            <a:off x="1609344" y="777240"/>
            <a:ext cx="10323295" cy="777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Demonstrate the business and technical value through the POV.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Validate security, connectivity, application integration, and operational readiness.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Establish a clear path from POV to Production and BAU.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D7471-4C75-9C41-B91E-843ECB410BC4}"/>
              </a:ext>
            </a:extLst>
          </p:cNvPr>
          <p:cNvSpPr txBox="1"/>
          <p:nvPr/>
        </p:nvSpPr>
        <p:spPr>
          <a:xfrm>
            <a:off x="1627632" y="1572768"/>
            <a:ext cx="10591800" cy="1234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 sz="1200"/>
            </a:lvl1pPr>
          </a:lstStyle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POV initiation and validation.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Connector security validation.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Connector setup and configuration.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Connector and application testing.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Production deployment and transition to BAU.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2C1DF-A428-F0A9-D634-22002DD03CF7}"/>
              </a:ext>
            </a:extLst>
          </p:cNvPr>
          <p:cNvSpPr txBox="1"/>
          <p:nvPr/>
        </p:nvSpPr>
        <p:spPr>
          <a:xfrm>
            <a:off x="1591056" y="4133087"/>
            <a:ext cx="9985677" cy="1188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POV successfully initiated and progressed through all validation stages.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Connector Security Validation completed.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Connector Setup completed.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Connector &amp; Application Testing completed.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Production &amp; BAU transition is currently In Progress.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E834D-DA70-9495-3EDC-BE380E91A074}"/>
              </a:ext>
            </a:extLst>
          </p:cNvPr>
          <p:cNvSpPr txBox="1"/>
          <p:nvPr/>
        </p:nvSpPr>
        <p:spPr>
          <a:xfrm>
            <a:off x="1627632" y="2852928"/>
            <a:ext cx="9610344" cy="1234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defTabSz="867024">
              <a:lnSpc>
                <a:spcPct val="107000"/>
              </a:lnSpc>
              <a:defRPr sz="1400" kern="100">
                <a:solidFill>
                  <a:srgbClr val="000000"/>
                </a:solidFill>
                <a:cs typeface="Times New Roman" panose="02020603050405020304" pitchFamily="18" charset="0"/>
              </a:defRPr>
            </a:lvl1pPr>
          </a:lstStyle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Validate the solution before production rollout.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Ensure secure and reliable connector integration.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Reduce implementation and operational risks.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Accelerate transition from POV to Production.</a:t>
            </a:r>
          </a:p>
          <a:p>
            <a:pPr lvl="0" defTabSz="867024" marL="171450" indent="-171450">
              <a:lnSpc>
                <a:spcPct val="100000"/>
              </a:lnSpc>
              <a:buFont typeface="Arial" pitchFamily="34" charset="0"/>
              <a:buChar char="•"/>
              <a:defRPr/>
              <a:spcBef>
                <a:spcPts val="0"/>
              </a:spcBef>
              <a:spcAft>
                <a:spcPts val="300"/>
              </a:spcAft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Establish a scalable foundation for BAU operations.</a:t>
            </a:r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B9E37900-1178-535D-AAD6-310D24DFBB15}"/>
              </a:ext>
            </a:extLst>
          </p:cNvPr>
          <p:cNvSpPr/>
          <p:nvPr/>
        </p:nvSpPr>
        <p:spPr>
          <a:xfrm>
            <a:off x="164839" y="896112"/>
            <a:ext cx="1426217" cy="512064"/>
          </a:xfrm>
          <a:prstGeom prst="roundRect">
            <a:avLst>
              <a:gd name="adj" fmla="val 9524"/>
            </a:avLst>
          </a:prstGeom>
          <a:solidFill>
            <a:srgbClr val="DCF3F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10" name="Rounded Rectangle 1">
            <a:extLst>
              <a:ext uri="{FF2B5EF4-FFF2-40B4-BE49-F238E27FC236}">
                <a16:creationId xmlns:a16="http://schemas.microsoft.com/office/drawing/2014/main" id="{B864487E-4D23-6755-E36E-37343AF8B8AA}"/>
              </a:ext>
            </a:extLst>
          </p:cNvPr>
          <p:cNvSpPr/>
          <p:nvPr/>
        </p:nvSpPr>
        <p:spPr>
          <a:xfrm>
            <a:off x="173983" y="1920240"/>
            <a:ext cx="1426217" cy="512064"/>
          </a:xfrm>
          <a:prstGeom prst="roundRect">
            <a:avLst>
              <a:gd name="adj" fmla="val 9524"/>
            </a:avLst>
          </a:prstGeom>
          <a:solidFill>
            <a:srgbClr val="DCF3F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Scope </a:t>
            </a:r>
          </a:p>
        </p:txBody>
      </p:sp>
      <p:sp>
        <p:nvSpPr>
          <p:cNvPr id="14" name="Rounded Rectangle 1">
            <a:extLst>
              <a:ext uri="{FF2B5EF4-FFF2-40B4-BE49-F238E27FC236}">
                <a16:creationId xmlns:a16="http://schemas.microsoft.com/office/drawing/2014/main" id="{5EAADDFB-B129-3CFB-68A9-ED2365980580}"/>
              </a:ext>
            </a:extLst>
          </p:cNvPr>
          <p:cNvSpPr/>
          <p:nvPr/>
        </p:nvSpPr>
        <p:spPr>
          <a:xfrm>
            <a:off x="173983" y="3200400"/>
            <a:ext cx="1417073" cy="512064"/>
          </a:xfrm>
          <a:prstGeom prst="roundRect">
            <a:avLst>
              <a:gd name="adj" fmla="val 9524"/>
            </a:avLst>
          </a:prstGeom>
          <a:solidFill>
            <a:srgbClr val="DCF3F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Benefits</a:t>
            </a: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9B0D5A7C-FB60-2318-9CCD-4EA4E44F447C}"/>
              </a:ext>
            </a:extLst>
          </p:cNvPr>
          <p:cNvSpPr/>
          <p:nvPr/>
        </p:nvSpPr>
        <p:spPr>
          <a:xfrm>
            <a:off x="173983" y="4453128"/>
            <a:ext cx="1426217" cy="548640"/>
          </a:xfrm>
          <a:prstGeom prst="roundRect">
            <a:avLst>
              <a:gd name="adj" fmla="val 9524"/>
            </a:avLst>
          </a:prstGeom>
          <a:solidFill>
            <a:srgbClr val="DCF3F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867024">
              <a:lnSpc>
                <a:spcPct val="107000"/>
              </a:lnSpc>
              <a:defRPr/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Key </a:t>
            </a:r>
          </a:p>
          <a:p>
            <a:pPr algn="ctr" defTabSz="867024">
              <a:lnSpc>
                <a:spcPct val="107000"/>
              </a:lnSpc>
              <a:defRPr/>
            </a:pPr>
            <a:r>
              <a:rPr lang="en-US" sz="1400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Highlights</a:t>
            </a:r>
          </a:p>
        </p:txBody>
      </p:sp>
      <p:sp>
        <p:nvSpPr>
          <p:cNvPr id="18" name="Rounded Rectangle 1">
            <a:extLst>
              <a:ext uri="{FF2B5EF4-FFF2-40B4-BE49-F238E27FC236}">
                <a16:creationId xmlns:a16="http://schemas.microsoft.com/office/drawing/2014/main" id="{E1D8AFBF-0701-D732-F592-52BCD9146C59}"/>
              </a:ext>
            </a:extLst>
          </p:cNvPr>
          <p:cNvSpPr/>
          <p:nvPr/>
        </p:nvSpPr>
        <p:spPr>
          <a:xfrm>
            <a:off x="164839" y="5335930"/>
            <a:ext cx="1417073" cy="740487"/>
          </a:xfrm>
          <a:prstGeom prst="roundRect">
            <a:avLst>
              <a:gd name="adj" fmla="val 9524"/>
            </a:avLst>
          </a:prstGeom>
          <a:solidFill>
            <a:srgbClr val="DCF3F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Milestones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9211B91-ADDD-02B5-CC4C-C45345C57450}"/>
              </a:ext>
            </a:extLst>
          </p:cNvPr>
          <p:cNvSpPr/>
          <p:nvPr/>
        </p:nvSpPr>
        <p:spPr>
          <a:xfrm>
            <a:off x="1810512" y="5455176"/>
            <a:ext cx="2103120" cy="507776"/>
          </a:xfrm>
          <a:prstGeom prst="chevron">
            <a:avLst/>
          </a:prstGeom>
          <a:solidFill>
            <a:schemeClr val="bg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ctr"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/>
                <a:cs typeface="Arial" panose="020B0604020202020204" pitchFamily="34" charset="0"/>
              </a:rPr>
              <a:t>POV Initiated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0516515A-17D8-DB18-9F35-02034CFB9034}"/>
              </a:ext>
            </a:extLst>
          </p:cNvPr>
          <p:cNvSpPr/>
          <p:nvPr/>
        </p:nvSpPr>
        <p:spPr>
          <a:xfrm>
            <a:off x="3803904" y="5495854"/>
            <a:ext cx="2103120" cy="452062"/>
          </a:xfrm>
          <a:prstGeom prst="chevron">
            <a:avLst/>
          </a:prstGeom>
          <a:solidFill>
            <a:schemeClr val="bg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/>
            <a:r>
              <a:rPr lang="en-US" sz="1000" dirty="0">
                <a:solidFill>
                  <a:srgbClr val="000000"/>
                </a:solidFill>
                <a:latin typeface="Calibri" panose="020F0502020204030204"/>
                <a:cs typeface="Arial" panose="020B0604020202020204" pitchFamily="34" charset="0"/>
              </a:rPr>
              <a:t>Connector Security Validation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3DE06202-0563-87A8-816D-0ECD7A85FCE4}"/>
              </a:ext>
            </a:extLst>
          </p:cNvPr>
          <p:cNvSpPr/>
          <p:nvPr/>
        </p:nvSpPr>
        <p:spPr>
          <a:xfrm>
            <a:off x="7790688" y="5494788"/>
            <a:ext cx="2103120" cy="452063"/>
          </a:xfrm>
          <a:prstGeom prst="chevron">
            <a:avLst/>
          </a:prstGeom>
          <a:solidFill>
            <a:schemeClr val="bg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/>
                <a:cs typeface="Arial" panose="020B0604020202020204" pitchFamily="34" charset="0"/>
              </a:rPr>
              <a:t>Connector &amp; Application Testing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A808806-D9E7-0DA6-0118-63068CB35385}"/>
              </a:ext>
            </a:extLst>
          </p:cNvPr>
          <p:cNvSpPr/>
          <p:nvPr/>
        </p:nvSpPr>
        <p:spPr>
          <a:xfrm>
            <a:off x="2130552" y="5999186"/>
            <a:ext cx="1463040" cy="20694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Completed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1F38A4C-8B9C-92B7-B9D2-8EE9F665CEE5}"/>
              </a:ext>
            </a:extLst>
          </p:cNvPr>
          <p:cNvSpPr/>
          <p:nvPr/>
        </p:nvSpPr>
        <p:spPr>
          <a:xfrm>
            <a:off x="4123944" y="5980281"/>
            <a:ext cx="1463040" cy="20694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Completed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AA58EF-F831-8569-7247-1666CBD7C8E8}"/>
              </a:ext>
            </a:extLst>
          </p:cNvPr>
          <p:cNvSpPr/>
          <p:nvPr/>
        </p:nvSpPr>
        <p:spPr>
          <a:xfrm>
            <a:off x="8110727" y="5994253"/>
            <a:ext cx="1463040" cy="20694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Completed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2BE6E7E-6436-BFB3-E026-1E657E5F29C6}"/>
              </a:ext>
            </a:extLst>
          </p:cNvPr>
          <p:cNvSpPr/>
          <p:nvPr/>
        </p:nvSpPr>
        <p:spPr>
          <a:xfrm>
            <a:off x="10104119" y="5985109"/>
            <a:ext cx="1463040" cy="20694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In Progress</a:t>
            </a: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39E9F21-5266-F73F-45D7-B3D6D803F54B}"/>
              </a:ext>
            </a:extLst>
          </p:cNvPr>
          <p:cNvSpPr/>
          <p:nvPr/>
        </p:nvSpPr>
        <p:spPr>
          <a:xfrm>
            <a:off x="3547872" y="5394294"/>
            <a:ext cx="194685" cy="19140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A250671-E8DB-7E52-6D0C-153459ADDCAF}"/>
              </a:ext>
            </a:extLst>
          </p:cNvPr>
          <p:cNvSpPr/>
          <p:nvPr/>
        </p:nvSpPr>
        <p:spPr>
          <a:xfrm>
            <a:off x="9528048" y="5399985"/>
            <a:ext cx="194685" cy="19140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E300E6C6-21D9-CA39-82EF-3DA03929092F}"/>
              </a:ext>
            </a:extLst>
          </p:cNvPr>
          <p:cNvSpPr/>
          <p:nvPr/>
        </p:nvSpPr>
        <p:spPr>
          <a:xfrm>
            <a:off x="5541264" y="5394294"/>
            <a:ext cx="194685" cy="19140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32116368-02A6-DBF2-985D-23916105E261}"/>
              </a:ext>
            </a:extLst>
          </p:cNvPr>
          <p:cNvSpPr/>
          <p:nvPr/>
        </p:nvSpPr>
        <p:spPr>
          <a:xfrm>
            <a:off x="9784080" y="5494788"/>
            <a:ext cx="2103120" cy="452063"/>
          </a:xfrm>
          <a:prstGeom prst="chevron">
            <a:avLst/>
          </a:prstGeom>
          <a:solidFill>
            <a:schemeClr val="bg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ctr"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/>
                <a:cs typeface="Arial" panose="020B0604020202020204" pitchFamily="34" charset="0"/>
              </a:rPr>
              <a:t>Production &amp; BAU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1DFF786-3892-9793-F473-949CA6A437E1}"/>
              </a:ext>
            </a:extLst>
          </p:cNvPr>
          <p:cNvGrpSpPr/>
          <p:nvPr/>
        </p:nvGrpSpPr>
        <p:grpSpPr>
          <a:xfrm>
            <a:off x="304621" y="6390733"/>
            <a:ext cx="4469581" cy="327560"/>
            <a:chOff x="197073" y="7478618"/>
            <a:chExt cx="4119805" cy="471084"/>
          </a:xfrm>
        </p:grpSpPr>
        <p:sp>
          <p:nvSpPr>
            <p:cNvPr id="57" name="object 4">
              <a:extLst>
                <a:ext uri="{FF2B5EF4-FFF2-40B4-BE49-F238E27FC236}">
                  <a16:creationId xmlns:a16="http://schemas.microsoft.com/office/drawing/2014/main" id="{FEC161E4-3C32-4734-193E-9C001A7E57A1}"/>
                </a:ext>
              </a:extLst>
            </p:cNvPr>
            <p:cNvSpPr/>
            <p:nvPr/>
          </p:nvSpPr>
          <p:spPr>
            <a:xfrm>
              <a:off x="197073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D3EBAE5-0A15-02D2-8992-91F1072F2F89}"/>
                </a:ext>
              </a:extLst>
            </p:cNvPr>
            <p:cNvSpPr txBox="1"/>
            <p:nvPr/>
          </p:nvSpPr>
          <p:spPr>
            <a:xfrm>
              <a:off x="279995" y="7478619"/>
              <a:ext cx="726142" cy="46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Completed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  <p:sp>
          <p:nvSpPr>
            <p:cNvPr id="59" name="object 4">
              <a:extLst>
                <a:ext uri="{FF2B5EF4-FFF2-40B4-BE49-F238E27FC236}">
                  <a16:creationId xmlns:a16="http://schemas.microsoft.com/office/drawing/2014/main" id="{4F5F5E2E-D9BF-0BB9-B883-6D5247E3D026}"/>
                </a:ext>
              </a:extLst>
            </p:cNvPr>
            <p:cNvSpPr/>
            <p:nvPr/>
          </p:nvSpPr>
          <p:spPr>
            <a:xfrm>
              <a:off x="1006138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9AC5CCC-1A0C-BE39-9607-4D6B097FBE65}"/>
                </a:ext>
              </a:extLst>
            </p:cNvPr>
            <p:cNvSpPr txBox="1"/>
            <p:nvPr/>
          </p:nvSpPr>
          <p:spPr>
            <a:xfrm>
              <a:off x="1104747" y="7481131"/>
              <a:ext cx="847165" cy="46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Major Delay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  <p:sp>
          <p:nvSpPr>
            <p:cNvPr id="61" name="object 4">
              <a:extLst>
                <a:ext uri="{FF2B5EF4-FFF2-40B4-BE49-F238E27FC236}">
                  <a16:creationId xmlns:a16="http://schemas.microsoft.com/office/drawing/2014/main" id="{C63EF0B0-731A-00FE-E0E3-407BF5BCE2A8}"/>
                </a:ext>
              </a:extLst>
            </p:cNvPr>
            <p:cNvSpPr/>
            <p:nvPr/>
          </p:nvSpPr>
          <p:spPr>
            <a:xfrm>
              <a:off x="1815202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337AC7C-AA86-9C69-518C-0E5C352D047A}"/>
                </a:ext>
              </a:extLst>
            </p:cNvPr>
            <p:cNvSpPr txBox="1"/>
            <p:nvPr/>
          </p:nvSpPr>
          <p:spPr>
            <a:xfrm>
              <a:off x="1905969" y="7478619"/>
              <a:ext cx="838679" cy="46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Minor Delay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  <p:sp>
          <p:nvSpPr>
            <p:cNvPr id="63" name="object 4">
              <a:extLst>
                <a:ext uri="{FF2B5EF4-FFF2-40B4-BE49-F238E27FC236}">
                  <a16:creationId xmlns:a16="http://schemas.microsoft.com/office/drawing/2014/main" id="{58E2DBA4-484E-881C-D5F8-D11E39A65D74}"/>
                </a:ext>
              </a:extLst>
            </p:cNvPr>
            <p:cNvSpPr/>
            <p:nvPr/>
          </p:nvSpPr>
          <p:spPr>
            <a:xfrm>
              <a:off x="2615782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F1DAD2F-41C5-DF7E-EF29-C3DAF328B6A8}"/>
                </a:ext>
              </a:extLst>
            </p:cNvPr>
            <p:cNvSpPr txBox="1"/>
            <p:nvPr/>
          </p:nvSpPr>
          <p:spPr>
            <a:xfrm>
              <a:off x="2715034" y="7480595"/>
              <a:ext cx="726142" cy="288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On Time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  <p:sp>
          <p:nvSpPr>
            <p:cNvPr id="65" name="object 4">
              <a:extLst>
                <a:ext uri="{FF2B5EF4-FFF2-40B4-BE49-F238E27FC236}">
                  <a16:creationId xmlns:a16="http://schemas.microsoft.com/office/drawing/2014/main" id="{5BE85451-AB5B-6C8E-D887-28523F6B5219}"/>
                </a:ext>
              </a:extLst>
            </p:cNvPr>
            <p:cNvSpPr/>
            <p:nvPr/>
          </p:nvSpPr>
          <p:spPr>
            <a:xfrm>
              <a:off x="3258999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F77D63C-42BD-E296-D34B-8175CFBB7376}"/>
                </a:ext>
              </a:extLst>
            </p:cNvPr>
            <p:cNvSpPr txBox="1"/>
            <p:nvPr/>
          </p:nvSpPr>
          <p:spPr>
            <a:xfrm>
              <a:off x="3380023" y="7478618"/>
              <a:ext cx="936855" cy="46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Not Initiated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</p:grp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F27E5E3-552D-2DD8-A0E3-037EB043DDB0}"/>
              </a:ext>
            </a:extLst>
          </p:cNvPr>
          <p:cNvSpPr/>
          <p:nvPr/>
        </p:nvSpPr>
        <p:spPr>
          <a:xfrm>
            <a:off x="11521440" y="5405475"/>
            <a:ext cx="194685" cy="191402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BBD1230B-2B55-F379-5196-6A715E9C2838}"/>
              </a:ext>
            </a:extLst>
          </p:cNvPr>
          <p:cNvSpPr/>
          <p:nvPr/>
        </p:nvSpPr>
        <p:spPr>
          <a:xfrm>
            <a:off x="5797296" y="5495854"/>
            <a:ext cx="2103120" cy="454290"/>
          </a:xfrm>
          <a:prstGeom prst="chevron">
            <a:avLst/>
          </a:prstGeom>
          <a:solidFill>
            <a:schemeClr val="bg2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Connector Setup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BBEDA502-1BCB-012B-64E4-69A9AE1B454E}"/>
              </a:ext>
            </a:extLst>
          </p:cNvPr>
          <p:cNvSpPr/>
          <p:nvPr/>
        </p:nvSpPr>
        <p:spPr>
          <a:xfrm>
            <a:off x="7534656" y="5369232"/>
            <a:ext cx="194685" cy="206048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D1D41BE-74CF-8BCF-49B8-5E1EFFEC4DB1}"/>
              </a:ext>
            </a:extLst>
          </p:cNvPr>
          <p:cNvSpPr/>
          <p:nvPr/>
        </p:nvSpPr>
        <p:spPr>
          <a:xfrm>
            <a:off x="6117336" y="5970979"/>
            <a:ext cx="1463040" cy="20694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4042593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421D-40E4-3429-B071-EE91ECF79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9">
            <a:extLst>
              <a:ext uri="{FF2B5EF4-FFF2-40B4-BE49-F238E27FC236}">
                <a16:creationId xmlns:a16="http://schemas.microsoft.com/office/drawing/2014/main" id="{CE1E0260-418D-95FC-BD5E-E321F7B0E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72" y="95778"/>
            <a:ext cx="10216478" cy="376852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sz="2000" dirty="0">
                <a:solidFill>
                  <a:srgbClr val="FB4E0B"/>
                </a:solidFill>
                <a:cs typeface="Arial" panose="020B0604020202020204" pitchFamily="34" charset="0"/>
              </a:rPr>
              <a:t>Gemini Enterprise – Project Charter</a:t>
            </a:r>
            <a:r>
              <a:rPr lang="en-US" sz="2000" dirty="0">
                <a:solidFill>
                  <a:srgbClr val="FB4E0B"/>
                </a:solidFill>
                <a:latin typeface="+mn-lt"/>
                <a:ea typeface="+mn-ea"/>
                <a:cs typeface="Arial" panose="020B0604020202020204" pitchFamily="34" charset="0"/>
              </a:rPr>
              <a:t xml:space="preserve">  (POV Initiated → Production &amp; BAU)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2DEE72-E3FF-03DF-250E-8AC6C53BE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59838"/>
              </p:ext>
            </p:extLst>
          </p:nvPr>
        </p:nvGraphicFramePr>
        <p:xfrm>
          <a:off x="27433" y="358705"/>
          <a:ext cx="12036896" cy="6048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2040">
                  <a:extLst>
                    <a:ext uri="{9D8B030D-6E8A-4147-A177-3AD203B41FA5}">
                      <a16:colId xmlns:a16="http://schemas.microsoft.com/office/drawing/2014/main" val="2508651369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3606751469"/>
                    </a:ext>
                  </a:extLst>
                </a:gridCol>
                <a:gridCol w="919512">
                  <a:extLst>
                    <a:ext uri="{9D8B030D-6E8A-4147-A177-3AD203B41FA5}">
                      <a16:colId xmlns:a16="http://schemas.microsoft.com/office/drawing/2014/main" val="2249974947"/>
                    </a:ext>
                  </a:extLst>
                </a:gridCol>
                <a:gridCol w="720766">
                  <a:extLst>
                    <a:ext uri="{9D8B030D-6E8A-4147-A177-3AD203B41FA5}">
                      <a16:colId xmlns:a16="http://schemas.microsoft.com/office/drawing/2014/main" val="1565855882"/>
                    </a:ext>
                  </a:extLst>
                </a:gridCol>
                <a:gridCol w="4608466">
                  <a:extLst>
                    <a:ext uri="{9D8B030D-6E8A-4147-A177-3AD203B41FA5}">
                      <a16:colId xmlns:a16="http://schemas.microsoft.com/office/drawing/2014/main" val="4159954943"/>
                    </a:ext>
                  </a:extLst>
                </a:gridCol>
              </a:tblGrid>
              <a:tr h="25854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Key Milestones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Start Date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End Date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Remarks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317019"/>
                  </a:ext>
                </a:extLst>
              </a:tr>
              <a:tr h="976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B4D0A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P1:  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POV Initiated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POV initiated to demonstrate business and technical value.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Objectives, scope, and success criteria defined and validated.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10-Jan-26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28-Feb-26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POV successfully initiated and stakeholders aligned.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Environment and access readiness confirmed for validation.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4632"/>
                  </a:ext>
                </a:extLst>
              </a:tr>
              <a:tr h="1155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B4D0A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P2:  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Connector Security Validation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Security validation of required 3rd-party integration connectors.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flows, access, and compliance controls reviewed.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01-Mar-26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31-Mar-26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Connector security validation completed and approved.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Integration risks and controls documented.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92216"/>
                  </a:ext>
                </a:extLst>
              </a:tr>
              <a:tr h="1155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B4D0A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P3:  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Connector Setup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Setup and configuration of the approved connectors.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Integration parameters and environment established.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01-Apr-26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31-May-26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Clr>
                          <a:srgbClr val="FB4D0A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Connector setup and configuration completed.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Connectivity established across integrated applications.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12118"/>
                  </a:ext>
                </a:extLst>
              </a:tr>
              <a:tr h="1155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B4D0A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P4:  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Connector &amp; Application Testing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Functional and integration testing across connectors and applications.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Performance and operational readiness checks executed.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01-Jun-26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31-Jul-26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4839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Connector and application testing completed.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Results validated; ready for production transition.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48069"/>
                  </a:ext>
                </a:extLst>
              </a:tr>
              <a:tr h="12562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B4D0A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P5:  </a:t>
                      </a: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&amp; BAU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deployment and transition to BAU operations.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Ongoing management of GE app, access, and subscriptions.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01-Aug-26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Clr>
                          <a:srgbClr val="FB4D0A"/>
                        </a:buClr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Ongoing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 &amp; BAU transition currently In Progress.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4D0A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Continuous management and optimization being established.</a:t>
                      </a:r>
                    </a:p>
                  </a:txBody>
                  <a:tcPr marL="80682" marR="80682" marT="40341" marB="40341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993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762C960-E5AA-45FE-C184-3A82CFDDBC0D}"/>
              </a:ext>
            </a:extLst>
          </p:cNvPr>
          <p:cNvGrpSpPr/>
          <p:nvPr/>
        </p:nvGrpSpPr>
        <p:grpSpPr>
          <a:xfrm>
            <a:off x="332053" y="6564388"/>
            <a:ext cx="4469581" cy="327560"/>
            <a:chOff x="197073" y="7478618"/>
            <a:chExt cx="4119805" cy="471084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4E164038-6550-03CA-18A4-7CA1038D5568}"/>
                </a:ext>
              </a:extLst>
            </p:cNvPr>
            <p:cNvSpPr/>
            <p:nvPr/>
          </p:nvSpPr>
          <p:spPr>
            <a:xfrm>
              <a:off x="197073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B369BD-7552-A816-B58D-8E07146D8C1B}"/>
                </a:ext>
              </a:extLst>
            </p:cNvPr>
            <p:cNvSpPr txBox="1"/>
            <p:nvPr/>
          </p:nvSpPr>
          <p:spPr>
            <a:xfrm>
              <a:off x="279995" y="7478619"/>
              <a:ext cx="726142" cy="46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Completed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8AD59A45-2B3D-0BC4-0F3B-FF110DDC74D4}"/>
                </a:ext>
              </a:extLst>
            </p:cNvPr>
            <p:cNvSpPr/>
            <p:nvPr/>
          </p:nvSpPr>
          <p:spPr>
            <a:xfrm>
              <a:off x="1006138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65E8413-E13B-75C2-29CF-4CADB54F1584}"/>
                </a:ext>
              </a:extLst>
            </p:cNvPr>
            <p:cNvSpPr txBox="1"/>
            <p:nvPr/>
          </p:nvSpPr>
          <p:spPr>
            <a:xfrm>
              <a:off x="1104747" y="7481131"/>
              <a:ext cx="847165" cy="46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Major Delay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CB12A993-94A6-9CC8-0B9E-0B8D0C75903C}"/>
                </a:ext>
              </a:extLst>
            </p:cNvPr>
            <p:cNvSpPr/>
            <p:nvPr/>
          </p:nvSpPr>
          <p:spPr>
            <a:xfrm>
              <a:off x="1815202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773092-41AD-0C1F-A1E8-DCA7405ABEDF}"/>
                </a:ext>
              </a:extLst>
            </p:cNvPr>
            <p:cNvSpPr txBox="1"/>
            <p:nvPr/>
          </p:nvSpPr>
          <p:spPr>
            <a:xfrm>
              <a:off x="1905969" y="7478619"/>
              <a:ext cx="838679" cy="46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Minor Delay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BAA0855D-B20E-4EA4-620D-87056C12E9EE}"/>
                </a:ext>
              </a:extLst>
            </p:cNvPr>
            <p:cNvSpPr/>
            <p:nvPr/>
          </p:nvSpPr>
          <p:spPr>
            <a:xfrm>
              <a:off x="2615782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BCEB4F-7464-31F1-0599-B48B08195540}"/>
                </a:ext>
              </a:extLst>
            </p:cNvPr>
            <p:cNvSpPr txBox="1"/>
            <p:nvPr/>
          </p:nvSpPr>
          <p:spPr>
            <a:xfrm>
              <a:off x="2715034" y="7480595"/>
              <a:ext cx="726142" cy="288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On Time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  <p:sp>
          <p:nvSpPr>
            <p:cNvPr id="19" name="object 4">
              <a:extLst>
                <a:ext uri="{FF2B5EF4-FFF2-40B4-BE49-F238E27FC236}">
                  <a16:creationId xmlns:a16="http://schemas.microsoft.com/office/drawing/2014/main" id="{4C3A5A97-ABA7-0603-99C1-42E7819F7A44}"/>
                </a:ext>
              </a:extLst>
            </p:cNvPr>
            <p:cNvSpPr/>
            <p:nvPr/>
          </p:nvSpPr>
          <p:spPr>
            <a:xfrm>
              <a:off x="3258999" y="7593001"/>
              <a:ext cx="121024" cy="119903"/>
            </a:xfrm>
            <a:custGeom>
              <a:avLst/>
              <a:gdLst/>
              <a:ahLst/>
              <a:cxnLst/>
              <a:rect l="l" t="t" r="r" b="b"/>
              <a:pathLst>
                <a:path w="137160" h="135890">
                  <a:moveTo>
                    <a:pt x="59269" y="0"/>
                  </a:moveTo>
                  <a:lnTo>
                    <a:pt x="21891" y="17722"/>
                  </a:lnTo>
                  <a:lnTo>
                    <a:pt x="1526" y="53497"/>
                  </a:lnTo>
                  <a:lnTo>
                    <a:pt x="0" y="67953"/>
                  </a:lnTo>
                  <a:lnTo>
                    <a:pt x="154" y="72585"/>
                  </a:lnTo>
                  <a:lnTo>
                    <a:pt x="14008" y="108452"/>
                  </a:lnTo>
                  <a:lnTo>
                    <a:pt x="47903" y="131148"/>
                  </a:lnTo>
                  <a:lnTo>
                    <a:pt x="79957" y="135589"/>
                  </a:lnTo>
                  <a:lnTo>
                    <a:pt x="93345" y="131888"/>
                  </a:lnTo>
                  <a:lnTo>
                    <a:pt x="124852" y="106486"/>
                  </a:lnTo>
                  <a:lnTo>
                    <a:pt x="137103" y="65137"/>
                  </a:lnTo>
                  <a:lnTo>
                    <a:pt x="135220" y="51815"/>
                  </a:lnTo>
                  <a:lnTo>
                    <a:pt x="114883" y="18627"/>
                  </a:lnTo>
                  <a:lnTo>
                    <a:pt x="75762" y="1123"/>
                  </a:lnTo>
                  <a:lnTo>
                    <a:pt x="59269" y="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344491">
                <a:defRPr/>
              </a:pPr>
              <a:endParaRPr sz="603">
                <a:solidFill>
                  <a:srgbClr val="FB4D0A"/>
                </a:solidFill>
                <a:latin typeface="Calibri Light" panose="020F0302020204030204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1AFB718-9FCF-9CA8-5638-C53F3AD9A7CB}"/>
                </a:ext>
              </a:extLst>
            </p:cNvPr>
            <p:cNvSpPr txBox="1"/>
            <p:nvPr/>
          </p:nvSpPr>
          <p:spPr>
            <a:xfrm>
              <a:off x="3380023" y="7478618"/>
              <a:ext cx="936855" cy="468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4491">
                <a:defRPr/>
              </a:pPr>
              <a:r>
                <a:rPr lang="en-US" sz="1000" dirty="0">
                  <a:solidFill>
                    <a:srgbClr val="808080"/>
                  </a:solidFill>
                  <a:latin typeface="Calibri" panose="020F0502020204030204"/>
                </a:rPr>
                <a:t>Not Initiated</a:t>
              </a:r>
              <a:endParaRPr lang="en-US" dirty="0">
                <a:solidFill>
                  <a:srgbClr val="808080"/>
                </a:solidFill>
                <a:latin typeface="Calibri" panose="020F0502020204030204"/>
              </a:endParaRPr>
            </a:p>
          </p:txBody>
        </p:sp>
      </p:grp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04C13784-9D8F-C536-991F-4BA985B3D21F}"/>
              </a:ext>
            </a:extLst>
          </p:cNvPr>
          <p:cNvSpPr/>
          <p:nvPr/>
        </p:nvSpPr>
        <p:spPr>
          <a:xfrm>
            <a:off x="6936669" y="1108921"/>
            <a:ext cx="194685" cy="19140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D98D4BA0-2E95-97F8-5A65-176154D00497}"/>
              </a:ext>
            </a:extLst>
          </p:cNvPr>
          <p:cNvSpPr/>
          <p:nvPr/>
        </p:nvSpPr>
        <p:spPr>
          <a:xfrm>
            <a:off x="6936669" y="2054670"/>
            <a:ext cx="194685" cy="19140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323AF932-CA3E-B44D-9664-69E667DD2417}"/>
              </a:ext>
            </a:extLst>
          </p:cNvPr>
          <p:cNvSpPr/>
          <p:nvPr/>
        </p:nvSpPr>
        <p:spPr>
          <a:xfrm>
            <a:off x="6936669" y="4692676"/>
            <a:ext cx="194685" cy="19140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32E51961-1CF8-AA20-E328-E1B0071C545C}"/>
              </a:ext>
            </a:extLst>
          </p:cNvPr>
          <p:cNvSpPr/>
          <p:nvPr/>
        </p:nvSpPr>
        <p:spPr>
          <a:xfrm>
            <a:off x="6936668" y="5734126"/>
            <a:ext cx="194685" cy="191402"/>
          </a:xfrm>
          <a:prstGeom prst="flowChartConnecto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8E1A53CC-3371-F170-B5B2-5AA70A8FF61F}"/>
              </a:ext>
            </a:extLst>
          </p:cNvPr>
          <p:cNvSpPr/>
          <p:nvPr/>
        </p:nvSpPr>
        <p:spPr>
          <a:xfrm>
            <a:off x="6936670" y="3469374"/>
            <a:ext cx="194685" cy="191402"/>
          </a:xfrm>
          <a:prstGeom prst="flowChartConnector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44154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7027</TotalTime>
  <Words>652</Words>
  <Application>Microsoft Office PowerPoint</Application>
  <PresentationFormat>Widescreen</PresentationFormat>
  <Paragraphs>106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    Diversification Project AWS → GCP Dev Workload Diversification </vt:lpstr>
      <vt:lpstr>Executive Summary</vt:lpstr>
      <vt:lpstr>Diversification Project Charter– AWS → GCP DEV Workload Diversification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Gautam.Verma@exlservice.com</dc:creator>
  <cp:lastModifiedBy>Neeraj Jha</cp:lastModifiedBy>
  <cp:revision>16</cp:revision>
  <dcterms:created xsi:type="dcterms:W3CDTF">2025-09-01T13:08:10Z</dcterms:created>
  <dcterms:modified xsi:type="dcterms:W3CDTF">2026-05-15T17:17:54Z</dcterms:modified>
</cp:coreProperties>
</file>